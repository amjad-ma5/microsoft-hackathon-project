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71" r:id="rId4"/>
    <p:sldId id="270" r:id="rId5"/>
    <p:sldId id="259" r:id="rId6"/>
    <p:sldId id="272" r:id="rId7"/>
    <p:sldId id="265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B357EB-507E-AB49-8372-AC9AFDA0320F}" v="1129" dt="2026-08-25T14:49:18.659"/>
    <p1510:client id="{49534786-8C9F-CA05-7725-A11089EAEA0E}" v="1089" dt="2026-08-25T14:35:38.924"/>
    <p1510:client id="{83189033-08BD-EBD0-8E99-D634B7F4F9C4}" v="325" dt="2026-08-25T14:36:11.010"/>
    <p1510:client id="{AA8CB632-CBDB-768A-1208-E68DCD850544}" v="201" dt="2026-08-25T13:50:45.6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2506115"/>
            <a:ext cx="9001125" cy="759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lang="de-DE" sz="5250" b="1" i="0" u="none" err="1">
                <a:solidFill>
                  <a:srgbClr val="0F172A"/>
                </a:solidFill>
                <a:latin typeface="Poppins"/>
              </a:rPr>
              <a:t>Planify</a:t>
            </a:r>
            <a:endParaRPr sz="5250" b="1" i="0" u="none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943AE-C0B6-E676-73DA-53634FBBC235}"/>
              </a:ext>
            </a:extLst>
          </p:cNvPr>
          <p:cNvSpPr txBox="1"/>
          <p:nvPr/>
        </p:nvSpPr>
        <p:spPr>
          <a:xfrm>
            <a:off x="3191114" y="3743203"/>
            <a:ext cx="5822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/>
              <a:t>Benjamin | Muhammed | Gift | Wei | Pham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679AF-13FB-C506-EC63-94E8B3348B5F}"/>
              </a:ext>
            </a:extLst>
          </p:cNvPr>
          <p:cNvSpPr txBox="1"/>
          <p:nvPr/>
        </p:nvSpPr>
        <p:spPr>
          <a:xfrm>
            <a:off x="1595436" y="2977536"/>
            <a:ext cx="9001125" cy="614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lang="de-DE" sz="1600" dirty="0" err="1">
                <a:solidFill>
                  <a:srgbClr val="0F172A"/>
                </a:solidFill>
                <a:latin typeface="Poppins"/>
              </a:rPr>
              <a:t>Developing</a:t>
            </a:r>
            <a:r>
              <a:rPr lang="de-DE" sz="1600" dirty="0">
                <a:solidFill>
                  <a:srgbClr val="0F172A"/>
                </a:solidFill>
                <a:latin typeface="Poppins"/>
              </a:rPr>
              <a:t> a Smart </a:t>
            </a:r>
            <a:r>
              <a:rPr lang="de-DE" sz="1600" dirty="0" err="1">
                <a:solidFill>
                  <a:srgbClr val="0F172A"/>
                </a:solidFill>
                <a:latin typeface="Poppins"/>
              </a:rPr>
              <a:t>Planning</a:t>
            </a:r>
            <a:r>
              <a:rPr lang="de-DE" sz="1600" dirty="0">
                <a:solidFill>
                  <a:srgbClr val="0F172A"/>
                </a:solidFill>
                <a:latin typeface="Poppins"/>
              </a:rPr>
              <a:t> Tool</a:t>
            </a:r>
            <a:endParaRPr lang="en-US" sz="1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68" y="1800276"/>
            <a:ext cx="3492549" cy="3252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667" y="1800276"/>
            <a:ext cx="3492549" cy="3252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4967" y="1800276"/>
            <a:ext cx="3492549" cy="3252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6386" y="2082851"/>
            <a:ext cx="304709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400">
                <a:solidFill>
                  <a:srgbClr val="0284C7"/>
                </a:solidFill>
                <a:latin typeface="Poppins Medium"/>
                <a:cs typeface="Poppins Medium"/>
              </a:rPr>
              <a:t>Work about Work</a:t>
            </a:r>
            <a:endParaRPr lang="en-US" sz="2400" b="0" i="0" u="none">
              <a:solidFill>
                <a:srgbClr val="0284C7"/>
              </a:solidFill>
              <a:latin typeface="Poppins Medium"/>
              <a:cs typeface="Poppins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3642" y="3056694"/>
            <a:ext cx="2901999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endParaRPr lang="en-US" sz="7200" dirty="0">
              <a:solidFill>
                <a:srgbClr val="475569"/>
              </a:solidFill>
              <a:latin typeface="Inter"/>
            </a:endParaRPr>
          </a:p>
          <a:p>
            <a:pPr algn="ctr">
              <a:lnSpc>
                <a:spcPts val="2279"/>
              </a:lnSpc>
            </a:pPr>
            <a:r>
              <a:rPr lang="en-US" sz="7200">
                <a:solidFill>
                  <a:srgbClr val="475569"/>
                </a:solidFill>
                <a:latin typeface="Inter"/>
              </a:rPr>
              <a:t>60%</a:t>
            </a:r>
            <a:endParaRPr lang="en-US" sz="7200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94685" y="2082851"/>
            <a:ext cx="304709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400">
                <a:solidFill>
                  <a:srgbClr val="0284C7"/>
                </a:solidFill>
                <a:latin typeface="Poppins Medium"/>
              </a:rPr>
              <a:t>Project Failure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39785" y="3351647"/>
            <a:ext cx="2901999" cy="46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7200">
                <a:solidFill>
                  <a:srgbClr val="475569"/>
                </a:solidFill>
                <a:latin typeface="Inter"/>
              </a:rPr>
              <a:t>34%</a:t>
            </a:r>
            <a:endParaRPr lang="en-US" sz="7200"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27287" y="2082851"/>
            <a:ext cx="379472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400">
                <a:solidFill>
                  <a:srgbClr val="0284C7"/>
                </a:solidFill>
                <a:latin typeface="Poppins Medium"/>
              </a:rPr>
              <a:t>Frustrated Employees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71117" y="3987449"/>
            <a:ext cx="3120247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79"/>
              </a:lnSpc>
            </a:pPr>
            <a:r>
              <a:rPr lang="en-US" dirty="0">
                <a:solidFill>
                  <a:srgbClr val="475569"/>
                </a:solidFill>
                <a:latin typeface="Inter"/>
              </a:rPr>
              <a:t>Believe their work </a:t>
            </a:r>
            <a:r>
              <a:rPr lang="en-US">
                <a:solidFill>
                  <a:srgbClr val="475569"/>
                </a:solidFill>
                <a:latin typeface="Inter"/>
              </a:rPr>
              <a:t>isn’t</a:t>
            </a:r>
            <a:r>
              <a:rPr lang="en-US" dirty="0">
                <a:solidFill>
                  <a:srgbClr val="475569"/>
                </a:solidFill>
                <a:latin typeface="Inter"/>
              </a:rPr>
              <a:t> effective because of managing processes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368" y="657764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150">
                <a:solidFill>
                  <a:srgbClr val="0284C7"/>
                </a:solidFill>
                <a:latin typeface="Poppins SemiBold"/>
              </a:rPr>
              <a:t>Importance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135745-9C65-BFDA-40A3-311124B831E6}"/>
              </a:ext>
            </a:extLst>
          </p:cNvPr>
          <p:cNvSpPr txBox="1"/>
          <p:nvPr/>
        </p:nvSpPr>
        <p:spPr>
          <a:xfrm>
            <a:off x="1075641" y="3979754"/>
            <a:ext cx="2901999" cy="282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79"/>
              </a:lnSpc>
            </a:pPr>
            <a:r>
              <a:rPr lang="en-US">
                <a:solidFill>
                  <a:srgbClr val="475569"/>
                </a:solidFill>
                <a:latin typeface="Inter"/>
              </a:rPr>
              <a:t>Searching &amp; Organizing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6CCD04-1A0E-E9D2-57F6-F55991BA2430}"/>
              </a:ext>
            </a:extLst>
          </p:cNvPr>
          <p:cNvSpPr txBox="1"/>
          <p:nvPr/>
        </p:nvSpPr>
        <p:spPr>
          <a:xfrm>
            <a:off x="4730818" y="3959236"/>
            <a:ext cx="2774831" cy="6052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94"/>
              </a:lnSpc>
            </a:pPr>
            <a:r>
              <a:rPr lang="en-US">
                <a:solidFill>
                  <a:srgbClr val="475569"/>
                </a:solidFill>
                <a:latin typeface="Inter"/>
              </a:rPr>
              <a:t>Projects on time &amp; within budget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30ACE9-32A9-F8EF-C554-9321A581A6A7}"/>
              </a:ext>
            </a:extLst>
          </p:cNvPr>
          <p:cNvSpPr txBox="1"/>
          <p:nvPr/>
        </p:nvSpPr>
        <p:spPr>
          <a:xfrm>
            <a:off x="6958642" y="2612983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7200">
                <a:solidFill>
                  <a:srgbClr val="475569"/>
                </a:solidFill>
                <a:latin typeface="Inter"/>
              </a:rPr>
              <a:t>83</a:t>
            </a:r>
            <a:r>
              <a:rPr lang="en-US" sz="7200" b="0" i="0" u="none" strike="noStrike">
                <a:solidFill>
                  <a:srgbClr val="475569"/>
                </a:solidFill>
                <a:latin typeface="Inter"/>
              </a:rPr>
              <a:t>%</a:t>
            </a:r>
            <a:r>
              <a:rPr lang="en-US" sz="7200" b="0" i="0" dirty="0">
                <a:latin typeface="Inter"/>
              </a:rPr>
              <a:t>​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F9E5-34EE-7F67-D57D-54CC4F9A9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E9981D39-6582-DC8E-A742-6FF1211D9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So lässt sich die Batterie-Produktion verbessern">
            <a:extLst>
              <a:ext uri="{FF2B5EF4-FFF2-40B4-BE49-F238E27FC236}">
                <a16:creationId xmlns:a16="http://schemas.microsoft.com/office/drawing/2014/main" id="{BC780BD8-063E-ED9B-30EC-2CB251AF7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80" y="3235380"/>
            <a:ext cx="3645262" cy="2505168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32443379-C005-10ED-D59E-4DAE04D998AD}"/>
              </a:ext>
            </a:extLst>
          </p:cNvPr>
          <p:cNvSpPr/>
          <p:nvPr/>
        </p:nvSpPr>
        <p:spPr>
          <a:xfrm>
            <a:off x="243096" y="2915754"/>
            <a:ext cx="3878430" cy="2959754"/>
          </a:xfrm>
          <a:prstGeom prst="frame">
            <a:avLst>
              <a:gd name="adj1" fmla="val 87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A56302-8FDC-C62C-4809-3918A654162D}"/>
              </a:ext>
            </a:extLst>
          </p:cNvPr>
          <p:cNvSpPr txBox="1"/>
          <p:nvPr/>
        </p:nvSpPr>
        <p:spPr>
          <a:xfrm>
            <a:off x="910990" y="2731088"/>
            <a:ext cx="269842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DE" sz="2000" b="1"/>
              <a:t>Prototype - Production</a:t>
            </a:r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6F1021F5-D5EF-637D-5271-997D3C3A9DD0}"/>
              </a:ext>
            </a:extLst>
          </p:cNvPr>
          <p:cNvSpPr/>
          <p:nvPr/>
        </p:nvSpPr>
        <p:spPr>
          <a:xfrm>
            <a:off x="5072380" y="2915754"/>
            <a:ext cx="2789938" cy="2959754"/>
          </a:xfrm>
          <a:prstGeom prst="frame">
            <a:avLst>
              <a:gd name="adj1" fmla="val 87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FFDF8D-4FFE-88B5-2175-802008A3C808}"/>
              </a:ext>
            </a:extLst>
          </p:cNvPr>
          <p:cNvSpPr txBox="1"/>
          <p:nvPr/>
        </p:nvSpPr>
        <p:spPr>
          <a:xfrm>
            <a:off x="5470909" y="2772829"/>
            <a:ext cx="2051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DE" sz="2000" b="1"/>
              <a:t>Full Investigation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2E835D94-95A6-E357-05B6-843EAEF80806}"/>
              </a:ext>
            </a:extLst>
          </p:cNvPr>
          <p:cNvSpPr/>
          <p:nvPr/>
        </p:nvSpPr>
        <p:spPr>
          <a:xfrm>
            <a:off x="4328011" y="3894723"/>
            <a:ext cx="537883" cy="6454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F11253-3D1A-4A17-279F-8F1129AD9B55}"/>
              </a:ext>
            </a:extLst>
          </p:cNvPr>
          <p:cNvSpPr txBox="1"/>
          <p:nvPr/>
        </p:nvSpPr>
        <p:spPr>
          <a:xfrm>
            <a:off x="4436408" y="1312103"/>
            <a:ext cx="432642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DE" sz="2400" b="1"/>
              <a:t>Analysis Department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D6F866-84BA-3D6C-2E87-363CEEEC1EE2}"/>
              </a:ext>
            </a:extLst>
          </p:cNvPr>
          <p:cNvSpPr txBox="1"/>
          <p:nvPr/>
        </p:nvSpPr>
        <p:spPr>
          <a:xfrm>
            <a:off x="4436408" y="1864467"/>
            <a:ext cx="4515877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200"/>
              <a:t>Fast feedback from taskforce team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1ED330-97E0-3B82-35D1-AF881F495862}"/>
              </a:ext>
            </a:extLst>
          </p:cNvPr>
          <p:cNvSpPr txBox="1"/>
          <p:nvPr/>
        </p:nvSpPr>
        <p:spPr>
          <a:xfrm>
            <a:off x="5274412" y="3715714"/>
            <a:ext cx="23858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2200"/>
              <a:t>Mechanical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2200"/>
              <a:t>Chemical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2200"/>
              <a:t>Thermal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2200"/>
              <a:t>…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92A0156A-6DE9-9EA4-937B-1F669E2D4760}"/>
              </a:ext>
            </a:extLst>
          </p:cNvPr>
          <p:cNvSpPr/>
          <p:nvPr/>
        </p:nvSpPr>
        <p:spPr>
          <a:xfrm>
            <a:off x="8050365" y="3933773"/>
            <a:ext cx="537883" cy="6454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Frame 33">
            <a:extLst>
              <a:ext uri="{FF2B5EF4-FFF2-40B4-BE49-F238E27FC236}">
                <a16:creationId xmlns:a16="http://schemas.microsoft.com/office/drawing/2014/main" id="{5EDF83C3-08C0-6FC6-E358-79967CB9A537}"/>
              </a:ext>
            </a:extLst>
          </p:cNvPr>
          <p:cNvSpPr/>
          <p:nvPr/>
        </p:nvSpPr>
        <p:spPr>
          <a:xfrm>
            <a:off x="3992884" y="1138660"/>
            <a:ext cx="4959401" cy="1177876"/>
          </a:xfrm>
          <a:prstGeom prst="frame">
            <a:avLst>
              <a:gd name="adj1" fmla="val 87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  <p:sp>
        <p:nvSpPr>
          <p:cNvPr id="35" name="Frame 34">
            <a:extLst>
              <a:ext uri="{FF2B5EF4-FFF2-40B4-BE49-F238E27FC236}">
                <a16:creationId xmlns:a16="http://schemas.microsoft.com/office/drawing/2014/main" id="{F9001DB9-6651-650E-A467-AAFC0274B26E}"/>
              </a:ext>
            </a:extLst>
          </p:cNvPr>
          <p:cNvSpPr/>
          <p:nvPr/>
        </p:nvSpPr>
        <p:spPr>
          <a:xfrm>
            <a:off x="8871693" y="3715714"/>
            <a:ext cx="3077212" cy="1177876"/>
          </a:xfrm>
          <a:prstGeom prst="frame">
            <a:avLst>
              <a:gd name="adj1" fmla="val 87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BD71FF-431D-EAD9-D549-D9577607B4B1}"/>
              </a:ext>
            </a:extLst>
          </p:cNvPr>
          <p:cNvSpPr txBox="1"/>
          <p:nvPr/>
        </p:nvSpPr>
        <p:spPr>
          <a:xfrm>
            <a:off x="8990363" y="3918263"/>
            <a:ext cx="29160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200"/>
              <a:t>Fast task distribution is required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94F9D0-4D68-F144-DE00-3BD7132A313C}"/>
              </a:ext>
            </a:extLst>
          </p:cNvPr>
          <p:cNvSpPr txBox="1"/>
          <p:nvPr/>
        </p:nvSpPr>
        <p:spPr>
          <a:xfrm>
            <a:off x="528368" y="657764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150">
                <a:solidFill>
                  <a:srgbClr val="0284C7"/>
                </a:solidFill>
                <a:latin typeface="Poppins SemiBold"/>
              </a:rPr>
              <a:t>Own Problem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58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BB259-6E7A-3B14-2F6D-1FB2C3B3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 descr="image.png">
            <a:extLst>
              <a:ext uri="{FF2B5EF4-FFF2-40B4-BE49-F238E27FC236}">
                <a16:creationId xmlns:a16="http://schemas.microsoft.com/office/drawing/2014/main" id="{D807657C-C67F-AFD3-6734-61477DFB9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Frame 16">
            <a:extLst>
              <a:ext uri="{FF2B5EF4-FFF2-40B4-BE49-F238E27FC236}">
                <a16:creationId xmlns:a16="http://schemas.microsoft.com/office/drawing/2014/main" id="{599DDF2A-5DB1-287A-EC80-094A722CEE79}"/>
              </a:ext>
            </a:extLst>
          </p:cNvPr>
          <p:cNvSpPr/>
          <p:nvPr/>
        </p:nvSpPr>
        <p:spPr>
          <a:xfrm>
            <a:off x="4831806" y="3483444"/>
            <a:ext cx="4572596" cy="919480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830C53-E888-3950-C3ED-99C5BD558748}"/>
              </a:ext>
            </a:extLst>
          </p:cNvPr>
          <p:cNvSpPr txBox="1"/>
          <p:nvPr/>
        </p:nvSpPr>
        <p:spPr>
          <a:xfrm>
            <a:off x="6833411" y="3114112"/>
            <a:ext cx="58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/>
              <a:t>Task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88FB6EC-376D-B57E-33AB-33CC24D6C29B}"/>
              </a:ext>
            </a:extLst>
          </p:cNvPr>
          <p:cNvCxnSpPr>
            <a:cxnSpLocks/>
          </p:cNvCxnSpPr>
          <p:nvPr/>
        </p:nvCxnSpPr>
        <p:spPr>
          <a:xfrm>
            <a:off x="5626075" y="3644809"/>
            <a:ext cx="0" cy="5916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73ADFE-902A-F787-F84E-68A2C4ADC296}"/>
              </a:ext>
            </a:extLst>
          </p:cNvPr>
          <p:cNvCxnSpPr>
            <a:cxnSpLocks/>
          </p:cNvCxnSpPr>
          <p:nvPr/>
        </p:nvCxnSpPr>
        <p:spPr>
          <a:xfrm>
            <a:off x="6340265" y="3644809"/>
            <a:ext cx="0" cy="5916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9D1F7F-297D-773D-DA45-FDA32B9E4C8B}"/>
              </a:ext>
            </a:extLst>
          </p:cNvPr>
          <p:cNvCxnSpPr>
            <a:cxnSpLocks/>
          </p:cNvCxnSpPr>
          <p:nvPr/>
        </p:nvCxnSpPr>
        <p:spPr>
          <a:xfrm>
            <a:off x="7089501" y="3631362"/>
            <a:ext cx="0" cy="5916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33102C7-BF68-0D63-A0CC-DAB7C7442766}"/>
              </a:ext>
            </a:extLst>
          </p:cNvPr>
          <p:cNvCxnSpPr>
            <a:cxnSpLocks/>
          </p:cNvCxnSpPr>
          <p:nvPr/>
        </p:nvCxnSpPr>
        <p:spPr>
          <a:xfrm>
            <a:off x="7792633" y="3631362"/>
            <a:ext cx="0" cy="5916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9359FD8-F62F-E442-ED6E-4AAB5ACD0830}"/>
              </a:ext>
            </a:extLst>
          </p:cNvPr>
          <p:cNvCxnSpPr>
            <a:cxnSpLocks/>
          </p:cNvCxnSpPr>
          <p:nvPr/>
        </p:nvCxnSpPr>
        <p:spPr>
          <a:xfrm>
            <a:off x="8555230" y="3644809"/>
            <a:ext cx="0" cy="5916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C966CD0-8465-C3B4-C28B-AC38F1AF8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798101"/>
              </p:ext>
            </p:extLst>
          </p:nvPr>
        </p:nvGraphicFramePr>
        <p:xfrm>
          <a:off x="3895807" y="1526903"/>
          <a:ext cx="6387387" cy="13048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9056">
                  <a:extLst>
                    <a:ext uri="{9D8B030D-6E8A-4147-A177-3AD203B41FA5}">
                      <a16:colId xmlns:a16="http://schemas.microsoft.com/office/drawing/2014/main" val="2375625"/>
                    </a:ext>
                  </a:extLst>
                </a:gridCol>
                <a:gridCol w="890071">
                  <a:extLst>
                    <a:ext uri="{9D8B030D-6E8A-4147-A177-3AD203B41FA5}">
                      <a16:colId xmlns:a16="http://schemas.microsoft.com/office/drawing/2014/main" val="2807764697"/>
                    </a:ext>
                  </a:extLst>
                </a:gridCol>
                <a:gridCol w="1064565">
                  <a:extLst>
                    <a:ext uri="{9D8B030D-6E8A-4147-A177-3AD203B41FA5}">
                      <a16:colId xmlns:a16="http://schemas.microsoft.com/office/drawing/2014/main" val="2675829758"/>
                    </a:ext>
                  </a:extLst>
                </a:gridCol>
                <a:gridCol w="1064565">
                  <a:extLst>
                    <a:ext uri="{9D8B030D-6E8A-4147-A177-3AD203B41FA5}">
                      <a16:colId xmlns:a16="http://schemas.microsoft.com/office/drawing/2014/main" val="263556942"/>
                    </a:ext>
                  </a:extLst>
                </a:gridCol>
                <a:gridCol w="1064565">
                  <a:extLst>
                    <a:ext uri="{9D8B030D-6E8A-4147-A177-3AD203B41FA5}">
                      <a16:colId xmlns:a16="http://schemas.microsoft.com/office/drawing/2014/main" val="3561169049"/>
                    </a:ext>
                  </a:extLst>
                </a:gridCol>
                <a:gridCol w="1064565">
                  <a:extLst>
                    <a:ext uri="{9D8B030D-6E8A-4147-A177-3AD203B41FA5}">
                      <a16:colId xmlns:a16="http://schemas.microsoft.com/office/drawing/2014/main" val="3723287239"/>
                    </a:ext>
                  </a:extLst>
                </a:gridCol>
              </a:tblGrid>
              <a:tr h="434958">
                <a:tc>
                  <a:txBody>
                    <a:bodyPr/>
                    <a:lstStyle/>
                    <a:p>
                      <a:pPr algn="ctr"/>
                      <a:endParaRPr lang="en-DE" sz="140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 b="1"/>
                        <a:t>Monday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 b="1"/>
                        <a:t>Tuesday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 b="1"/>
                        <a:t>Wednesday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 b="1"/>
                        <a:t>Thursday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 b="1"/>
                        <a:t>Friday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578741"/>
                  </a:ext>
                </a:extLst>
              </a:tr>
              <a:tr h="434958">
                <a:tc>
                  <a:txBody>
                    <a:bodyPr/>
                    <a:lstStyle/>
                    <a:p>
                      <a:pPr algn="ctr"/>
                      <a:r>
                        <a:rPr lang="en-DE" sz="1400"/>
                        <a:t>8:00-12:00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842781"/>
                  </a:ext>
                </a:extLst>
              </a:tr>
              <a:tr h="434958">
                <a:tc>
                  <a:txBody>
                    <a:bodyPr/>
                    <a:lstStyle/>
                    <a:p>
                      <a:pPr algn="ctr"/>
                      <a:r>
                        <a:rPr lang="en-DE" sz="1400"/>
                        <a:t>13:00-17:00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61619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0D847CE4-D629-E6D5-3E57-E84100C0DF90}"/>
              </a:ext>
            </a:extLst>
          </p:cNvPr>
          <p:cNvSpPr txBox="1"/>
          <p:nvPr/>
        </p:nvSpPr>
        <p:spPr>
          <a:xfrm>
            <a:off x="1165857" y="2652447"/>
            <a:ext cx="2267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/>
              <a:t>Person A</a:t>
            </a:r>
          </a:p>
          <a:p>
            <a:pPr algn="ctr"/>
            <a:r>
              <a:rPr lang="en-GB"/>
              <a:t>R</a:t>
            </a:r>
            <a:r>
              <a:rPr lang="en-DE"/>
              <a:t>esponsible for Task 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ED49CE-9C58-9DFB-B6C1-9F35C5227191}"/>
              </a:ext>
            </a:extLst>
          </p:cNvPr>
          <p:cNvSpPr txBox="1"/>
          <p:nvPr/>
        </p:nvSpPr>
        <p:spPr>
          <a:xfrm>
            <a:off x="1190184" y="5827278"/>
            <a:ext cx="2259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/>
              <a:t>Person B</a:t>
            </a:r>
          </a:p>
          <a:p>
            <a:pPr algn="ctr"/>
            <a:r>
              <a:rPr lang="en-GB"/>
              <a:t>R</a:t>
            </a:r>
            <a:r>
              <a:rPr lang="en-DE"/>
              <a:t>esponsible for Task B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F58BF2-1FC6-9D1A-6A0F-C11056F6D695}"/>
              </a:ext>
            </a:extLst>
          </p:cNvPr>
          <p:cNvCxnSpPr>
            <a:cxnSpLocks/>
          </p:cNvCxnSpPr>
          <p:nvPr/>
        </p:nvCxnSpPr>
        <p:spPr>
          <a:xfrm>
            <a:off x="9014720" y="3927197"/>
            <a:ext cx="9783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B1E1E4-93CC-2755-F631-5156DACCCE58}"/>
              </a:ext>
            </a:extLst>
          </p:cNvPr>
          <p:cNvSpPr txBox="1"/>
          <p:nvPr/>
        </p:nvSpPr>
        <p:spPr>
          <a:xfrm>
            <a:off x="10055160" y="3742531"/>
            <a:ext cx="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err="1"/>
              <a:t>Subtask</a:t>
            </a:r>
            <a:endParaRPr lang="en-DE"/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67F437B8-A3CB-7651-76F4-9C32F503F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92465"/>
              </p:ext>
            </p:extLst>
          </p:nvPr>
        </p:nvGraphicFramePr>
        <p:xfrm>
          <a:off x="3895806" y="5022617"/>
          <a:ext cx="6387387" cy="13048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9056">
                  <a:extLst>
                    <a:ext uri="{9D8B030D-6E8A-4147-A177-3AD203B41FA5}">
                      <a16:colId xmlns:a16="http://schemas.microsoft.com/office/drawing/2014/main" val="2375625"/>
                    </a:ext>
                  </a:extLst>
                </a:gridCol>
                <a:gridCol w="890071">
                  <a:extLst>
                    <a:ext uri="{9D8B030D-6E8A-4147-A177-3AD203B41FA5}">
                      <a16:colId xmlns:a16="http://schemas.microsoft.com/office/drawing/2014/main" val="2807764697"/>
                    </a:ext>
                  </a:extLst>
                </a:gridCol>
                <a:gridCol w="1064565">
                  <a:extLst>
                    <a:ext uri="{9D8B030D-6E8A-4147-A177-3AD203B41FA5}">
                      <a16:colId xmlns:a16="http://schemas.microsoft.com/office/drawing/2014/main" val="2675829758"/>
                    </a:ext>
                  </a:extLst>
                </a:gridCol>
                <a:gridCol w="1064565">
                  <a:extLst>
                    <a:ext uri="{9D8B030D-6E8A-4147-A177-3AD203B41FA5}">
                      <a16:colId xmlns:a16="http://schemas.microsoft.com/office/drawing/2014/main" val="263556942"/>
                    </a:ext>
                  </a:extLst>
                </a:gridCol>
                <a:gridCol w="1064565">
                  <a:extLst>
                    <a:ext uri="{9D8B030D-6E8A-4147-A177-3AD203B41FA5}">
                      <a16:colId xmlns:a16="http://schemas.microsoft.com/office/drawing/2014/main" val="3561169049"/>
                    </a:ext>
                  </a:extLst>
                </a:gridCol>
                <a:gridCol w="1064565">
                  <a:extLst>
                    <a:ext uri="{9D8B030D-6E8A-4147-A177-3AD203B41FA5}">
                      <a16:colId xmlns:a16="http://schemas.microsoft.com/office/drawing/2014/main" val="3723287239"/>
                    </a:ext>
                  </a:extLst>
                </a:gridCol>
              </a:tblGrid>
              <a:tr h="434958">
                <a:tc>
                  <a:txBody>
                    <a:bodyPr/>
                    <a:lstStyle/>
                    <a:p>
                      <a:pPr algn="ctr"/>
                      <a:endParaRPr lang="en-DE" sz="140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 b="1"/>
                        <a:t>Monday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 b="1"/>
                        <a:t>Tuesday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 b="1"/>
                        <a:t>Wednesday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 b="1"/>
                        <a:t>Thursday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 b="1"/>
                        <a:t>Friday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578741"/>
                  </a:ext>
                </a:extLst>
              </a:tr>
              <a:tr h="434958">
                <a:tc>
                  <a:txBody>
                    <a:bodyPr/>
                    <a:lstStyle/>
                    <a:p>
                      <a:pPr algn="ctr"/>
                      <a:r>
                        <a:rPr lang="en-DE" sz="1400"/>
                        <a:t>8:00-12:00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842781"/>
                  </a:ext>
                </a:extLst>
              </a:tr>
              <a:tr h="434958">
                <a:tc>
                  <a:txBody>
                    <a:bodyPr/>
                    <a:lstStyle/>
                    <a:p>
                      <a:pPr algn="ctr"/>
                      <a:r>
                        <a:rPr lang="en-DE" sz="1400"/>
                        <a:t>13:00-17:00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40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61619"/>
                  </a:ext>
                </a:extLst>
              </a:tr>
            </a:tbl>
          </a:graphicData>
        </a:graphic>
      </p:graphicFrame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0CA6B8B-2B98-297F-4CFF-CA853DBD9773}"/>
              </a:ext>
            </a:extLst>
          </p:cNvPr>
          <p:cNvCxnSpPr/>
          <p:nvPr/>
        </p:nvCxnSpPr>
        <p:spPr>
          <a:xfrm flipV="1">
            <a:off x="5380445" y="2279484"/>
            <a:ext cx="0" cy="1647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66E7521-CCDB-5251-4118-EBE9EA48AC72}"/>
              </a:ext>
            </a:extLst>
          </p:cNvPr>
          <p:cNvCxnSpPr/>
          <p:nvPr/>
        </p:nvCxnSpPr>
        <p:spPr>
          <a:xfrm flipH="1">
            <a:off x="5847805" y="3927197"/>
            <a:ext cx="162560" cy="2101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71B7A74-8AB3-A9CD-CA4A-9EFF867EECEA}"/>
              </a:ext>
            </a:extLst>
          </p:cNvPr>
          <p:cNvCxnSpPr>
            <a:cxnSpLocks/>
          </p:cNvCxnSpPr>
          <p:nvPr/>
        </p:nvCxnSpPr>
        <p:spPr>
          <a:xfrm flipV="1">
            <a:off x="7544525" y="2746844"/>
            <a:ext cx="0" cy="1180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9076FFB-6197-DE2B-6D02-567E68C1331D}"/>
              </a:ext>
            </a:extLst>
          </p:cNvPr>
          <p:cNvCxnSpPr/>
          <p:nvPr/>
        </p:nvCxnSpPr>
        <p:spPr>
          <a:xfrm>
            <a:off x="6599645" y="4037164"/>
            <a:ext cx="721360" cy="1526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917B7F5-EDCD-92AE-B8EB-618A3B7A5D0D}"/>
              </a:ext>
            </a:extLst>
          </p:cNvPr>
          <p:cNvCxnSpPr/>
          <p:nvPr/>
        </p:nvCxnSpPr>
        <p:spPr>
          <a:xfrm flipV="1">
            <a:off x="8316685" y="2240352"/>
            <a:ext cx="0" cy="1647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0B1E610-5DE4-DF4F-0455-C156A5A37879}"/>
              </a:ext>
            </a:extLst>
          </p:cNvPr>
          <p:cNvCxnSpPr/>
          <p:nvPr/>
        </p:nvCxnSpPr>
        <p:spPr>
          <a:xfrm>
            <a:off x="8824685" y="4037164"/>
            <a:ext cx="579717" cy="1605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Smiley Face 73">
            <a:extLst>
              <a:ext uri="{FF2B5EF4-FFF2-40B4-BE49-F238E27FC236}">
                <a16:creationId xmlns:a16="http://schemas.microsoft.com/office/drawing/2014/main" id="{1F50F687-330E-4D14-BE8F-D5D049235BE2}"/>
              </a:ext>
            </a:extLst>
          </p:cNvPr>
          <p:cNvSpPr/>
          <p:nvPr/>
        </p:nvSpPr>
        <p:spPr>
          <a:xfrm>
            <a:off x="1850144" y="4837154"/>
            <a:ext cx="898712" cy="837900"/>
          </a:xfrm>
          <a:prstGeom prst="smileyFac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0">
                <a:schemeClr val="accent3">
                  <a:lumMod val="45000"/>
                  <a:lumOff val="5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ED8D6BE-D38E-62EB-F1BE-60C2D9F50192}"/>
              </a:ext>
            </a:extLst>
          </p:cNvPr>
          <p:cNvSpPr txBox="1"/>
          <p:nvPr/>
        </p:nvSpPr>
        <p:spPr>
          <a:xfrm>
            <a:off x="528368" y="657764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150">
                <a:solidFill>
                  <a:srgbClr val="0284C7"/>
                </a:solidFill>
                <a:latin typeface="Poppins SemiBold"/>
              </a:rPr>
              <a:t>Approach</a:t>
            </a:r>
            <a:endParaRPr lang="en-US"/>
          </a:p>
        </p:txBody>
      </p:sp>
      <p:sp>
        <p:nvSpPr>
          <p:cNvPr id="77" name="Smiley Face 76">
            <a:extLst>
              <a:ext uri="{FF2B5EF4-FFF2-40B4-BE49-F238E27FC236}">
                <a16:creationId xmlns:a16="http://schemas.microsoft.com/office/drawing/2014/main" id="{98311095-FF5B-982D-D43A-4A4F1D2ABD6E}"/>
              </a:ext>
            </a:extLst>
          </p:cNvPr>
          <p:cNvSpPr/>
          <p:nvPr/>
        </p:nvSpPr>
        <p:spPr>
          <a:xfrm>
            <a:off x="1870464" y="1583347"/>
            <a:ext cx="898712" cy="837900"/>
          </a:xfrm>
          <a:prstGeom prst="smileyFac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0">
                <a:schemeClr val="accent3">
                  <a:lumMod val="45000"/>
                  <a:lumOff val="5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2706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36910"/>
            <a:ext cx="5286375" cy="536540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236910"/>
            <a:ext cx="5286375" cy="53654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1627435"/>
            <a:ext cx="4730591" cy="4000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284C7"/>
                </a:solidFill>
                <a:latin typeface="Poppins Medium"/>
              </a:rPr>
              <a:t>Included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3230" y="1616005"/>
            <a:ext cx="4730591" cy="32316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r>
              <a:rPr lang="en-US" sz="2100">
                <a:solidFill>
                  <a:srgbClr val="0284C7"/>
                </a:solidFill>
                <a:latin typeface="Poppins Medium"/>
                <a:cs typeface="Poppins Medium"/>
              </a:rPr>
              <a:t>Planned Features</a:t>
            </a:r>
            <a:endParaRPr lang="en-US" sz="2100" b="0" i="0" u="none">
              <a:solidFill>
                <a:srgbClr val="0284C7"/>
              </a:solidFill>
              <a:latin typeface="Poppins Medium"/>
              <a:cs typeface="Poppins Medium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" y="1635055"/>
            <a:ext cx="320040" cy="3162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5339" y="5262699"/>
            <a:ext cx="4267200" cy="597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79"/>
              </a:lnSpc>
            </a:pPr>
            <a:r>
              <a:rPr sz="2400" b="0" i="0" u="none">
                <a:solidFill>
                  <a:srgbClr val="475569"/>
                </a:solidFill>
                <a:latin typeface="Inter"/>
              </a:rPr>
              <a:t>AI-generated sample </a:t>
            </a:r>
            <a:r>
              <a:rPr lang="en-US" sz="2400">
                <a:solidFill>
                  <a:srgbClr val="475569"/>
                </a:solidFill>
                <a:latin typeface="Inter"/>
              </a:rPr>
              <a:t>schedule data</a:t>
            </a:r>
            <a:r>
              <a:rPr sz="2400" b="0" i="0" u="none">
                <a:solidFill>
                  <a:srgbClr val="475569"/>
                </a:solidFill>
                <a:latin typeface="Inter"/>
              </a:rPr>
              <a:t> </a:t>
            </a:r>
            <a:endParaRPr lang="en-US" sz="24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25339" y="4062487"/>
            <a:ext cx="4267200" cy="302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79"/>
              </a:lnSpc>
            </a:pPr>
            <a:r>
              <a:rPr lang="en-US" sz="2400">
                <a:solidFill>
                  <a:srgbClr val="475569"/>
                </a:solidFill>
                <a:latin typeface="Inter"/>
              </a:rPr>
              <a:t>Simple UI</a:t>
            </a:r>
            <a:endParaRPr lang="en-US" sz="240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1631245"/>
            <a:ext cx="297180" cy="30861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90192" y="2915535"/>
            <a:ext cx="4657727" cy="597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79"/>
              </a:lnSpc>
            </a:pPr>
            <a:r>
              <a:rPr sz="2400" b="0" i="0" u="none">
                <a:solidFill>
                  <a:srgbClr val="475569"/>
                </a:solidFill>
                <a:latin typeface="Inter"/>
              </a:rPr>
              <a:t>Direct integrations with </a:t>
            </a:r>
            <a:r>
              <a:rPr lang="en-US" sz="2400">
                <a:solidFill>
                  <a:srgbClr val="475569"/>
                </a:solidFill>
                <a:latin typeface="Inter"/>
              </a:rPr>
              <a:t>e.g. Microsoft Outlook</a:t>
            </a:r>
            <a:endParaRPr lang="en-US" sz="24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2025" y="2854076"/>
            <a:ext cx="133350" cy="36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" y="4004779"/>
            <a:ext cx="133350" cy="36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214" y="5213505"/>
            <a:ext cx="133350" cy="36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2068" y="2877435"/>
            <a:ext cx="133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709D6-EDC4-AB87-46D7-B8D4969A72A4}"/>
              </a:ext>
            </a:extLst>
          </p:cNvPr>
          <p:cNvSpPr txBox="1"/>
          <p:nvPr/>
        </p:nvSpPr>
        <p:spPr>
          <a:xfrm>
            <a:off x="1225339" y="2896075"/>
            <a:ext cx="4267200" cy="302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79"/>
              </a:lnSpc>
            </a:pPr>
            <a:r>
              <a:rPr lang="en-US" sz="2400">
                <a:solidFill>
                  <a:srgbClr val="475569"/>
                </a:solidFill>
                <a:latin typeface="Inter"/>
              </a:rPr>
              <a:t>Smart schedule planning</a:t>
            </a:r>
            <a:endParaRPr lang="en-US" sz="24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90A681-406F-9F1E-3EC0-9556D8A0F78D}"/>
              </a:ext>
            </a:extLst>
          </p:cNvPr>
          <p:cNvSpPr txBox="1"/>
          <p:nvPr/>
        </p:nvSpPr>
        <p:spPr>
          <a:xfrm>
            <a:off x="6790192" y="4133313"/>
            <a:ext cx="4657727" cy="597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79"/>
              </a:lnSpc>
            </a:pPr>
            <a:r>
              <a:rPr lang="en-US" sz="2400">
                <a:solidFill>
                  <a:srgbClr val="475569"/>
                </a:solidFill>
                <a:latin typeface="Inter"/>
              </a:rPr>
              <a:t>Additional manual editing of assigned tasks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DDBDF7-F028-D341-FC43-1F46C556361C}"/>
              </a:ext>
            </a:extLst>
          </p:cNvPr>
          <p:cNvSpPr txBox="1"/>
          <p:nvPr/>
        </p:nvSpPr>
        <p:spPr>
          <a:xfrm>
            <a:off x="6550936" y="4070067"/>
            <a:ext cx="133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7160A-3C13-8235-7DE8-18C125FE2833}"/>
              </a:ext>
            </a:extLst>
          </p:cNvPr>
          <p:cNvSpPr txBox="1"/>
          <p:nvPr/>
        </p:nvSpPr>
        <p:spPr>
          <a:xfrm>
            <a:off x="6790192" y="5300799"/>
            <a:ext cx="4657727" cy="302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79"/>
              </a:lnSpc>
            </a:pPr>
            <a:r>
              <a:rPr lang="en-US" sz="2400">
                <a:solidFill>
                  <a:srgbClr val="475569"/>
                </a:solidFill>
                <a:latin typeface="Inter"/>
              </a:rPr>
              <a:t>Additional reasoning of assignment</a:t>
            </a:r>
            <a:endParaRPr lang="en-US" sz="2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9D7F06-8129-5416-4612-CD775CB7E393}"/>
              </a:ext>
            </a:extLst>
          </p:cNvPr>
          <p:cNvSpPr txBox="1"/>
          <p:nvPr/>
        </p:nvSpPr>
        <p:spPr>
          <a:xfrm>
            <a:off x="6552068" y="5262699"/>
            <a:ext cx="133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417FF-CE99-1458-9966-68CF10C1B085}"/>
              </a:ext>
            </a:extLst>
          </p:cNvPr>
          <p:cNvSpPr txBox="1"/>
          <p:nvPr/>
        </p:nvSpPr>
        <p:spPr>
          <a:xfrm>
            <a:off x="528368" y="657764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150">
                <a:solidFill>
                  <a:srgbClr val="0284C7"/>
                </a:solidFill>
                <a:latin typeface="Poppins SemiBold"/>
              </a:rPr>
              <a:t>Our Project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AB6BD707-DD8F-D5C3-B37C-825FFFE91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027E2752-0357-8882-4A15-C239C4278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03" y="1142512"/>
            <a:ext cx="8554827" cy="53654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CD0939-D3BD-8CB3-5010-CEB43EF328C6}"/>
              </a:ext>
            </a:extLst>
          </p:cNvPr>
          <p:cNvSpPr txBox="1"/>
          <p:nvPr/>
        </p:nvSpPr>
        <p:spPr>
          <a:xfrm>
            <a:off x="415649" y="1431840"/>
            <a:ext cx="7871900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•⁠ ⁠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Eliminates manual 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scheduling grind </a:t>
            </a:r>
            <a:br>
              <a:rPr lang="en-US" sz="2400" dirty="0">
                <a:ea typeface="+mn-lt"/>
                <a:cs typeface="+mn-lt"/>
              </a:rPr>
            </a:br>
            <a:br>
              <a:rPr lang="en-US" sz="2400" dirty="0">
                <a:ea typeface="+mn-lt"/>
                <a:cs typeface="+mn-lt"/>
              </a:rPr>
            </a:b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•⁠ ⁠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Faster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time to plan </a:t>
            </a:r>
            <a:br>
              <a:rPr lang="en-US" sz="2400" dirty="0">
                <a:ea typeface="+mn-lt"/>
                <a:cs typeface="+mn-lt"/>
              </a:rPr>
            </a:br>
            <a:br>
              <a:rPr lang="en-US" sz="2400" dirty="0">
                <a:ea typeface="+mn-lt"/>
                <a:cs typeface="+mn-lt"/>
              </a:rPr>
            </a:b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•⁠ ⁠⁠Respects real constraints /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Scales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with team complexity</a:t>
            </a:r>
            <a:br>
              <a:rPr lang="en-US" sz="2400" dirty="0">
                <a:ea typeface="+mn-lt"/>
                <a:cs typeface="+mn-lt"/>
              </a:rPr>
            </a:br>
            <a:br>
              <a:rPr lang="en-US" sz="2400" dirty="0">
                <a:ea typeface="+mn-lt"/>
                <a:cs typeface="+mn-lt"/>
              </a:rPr>
            </a:b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•⁠ ⁠⁠Deadline-driven </a:t>
            </a:r>
            <a:br>
              <a:rPr lang="en-US" sz="2400" dirty="0">
                <a:ea typeface="+mn-lt"/>
                <a:cs typeface="+mn-lt"/>
              </a:rPr>
            </a:br>
            <a:endParaRPr lang="en-US" sz="32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•⁠ ⁠⁠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Reduces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overallocation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&amp; burnout </a:t>
            </a:r>
            <a:br>
              <a:rPr lang="en-US" sz="2400" dirty="0">
                <a:ea typeface="+mn-lt"/>
                <a:cs typeface="+mn-lt"/>
              </a:rPr>
            </a:b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400">
                <a:ea typeface="Calibri"/>
                <a:cs typeface="Calibri"/>
              </a:rPr>
              <a:t>•⁠⁠⁠ Foundation for </a:t>
            </a:r>
            <a:r>
              <a:rPr lang="en-US" sz="2400" b="1">
                <a:ea typeface="Calibri"/>
                <a:cs typeface="Calibri"/>
              </a:rPr>
              <a:t>smarter Product Management </a:t>
            </a:r>
            <a:r>
              <a:rPr lang="en-US" sz="2400">
                <a:ea typeface="Calibri"/>
                <a:cs typeface="Calibri"/>
              </a:rPr>
              <a:t>tooling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155A2-BEC1-DD05-3BE4-7294260B5C96}"/>
              </a:ext>
            </a:extLst>
          </p:cNvPr>
          <p:cNvSpPr txBox="1"/>
          <p:nvPr/>
        </p:nvSpPr>
        <p:spPr>
          <a:xfrm>
            <a:off x="528368" y="657764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150">
                <a:solidFill>
                  <a:srgbClr val="0284C7"/>
                </a:solidFill>
                <a:latin typeface="Poppins SemiBold"/>
              </a:rPr>
              <a:t>Why </a:t>
            </a:r>
            <a:r>
              <a:rPr lang="en-US" sz="3150" err="1">
                <a:solidFill>
                  <a:srgbClr val="0284C7"/>
                </a:solidFill>
                <a:latin typeface="Poppins SemiBold"/>
              </a:rPr>
              <a:t>Planify</a:t>
            </a:r>
            <a:r>
              <a:rPr lang="en-US" sz="3150">
                <a:solidFill>
                  <a:srgbClr val="0284C7"/>
                </a:solidFill>
                <a:latin typeface="Poppins SemiBold"/>
              </a:rPr>
              <a:t> matters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94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12" y="1552575"/>
            <a:ext cx="33337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17154" y="2662747"/>
            <a:ext cx="5550693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7200">
                <a:solidFill>
                  <a:srgbClr val="0F172A"/>
                </a:solidFill>
                <a:latin typeface="Poppins Medium"/>
              </a:rPr>
              <a:t>Demo</a:t>
            </a:r>
            <a:endParaRPr lang="en-US" sz="7200">
              <a:ea typeface="Calibri"/>
              <a:cs typeface="Calibri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912" y="1590675"/>
            <a:ext cx="3257550" cy="3257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284C7"/>
                </a:solidFill>
                <a:latin typeface="Poppins SemiBold"/>
              </a:rPr>
              <a:t>Example Use Case Execution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134641"/>
            <a:ext cx="116014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 u="none">
                <a:solidFill>
                  <a:srgbClr val="0284C7"/>
                </a:solidFill>
                <a:latin typeface="Poppins SemiBold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68141"/>
            <a:ext cx="11049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Thank you for your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14812"/>
            <a:ext cx="11049000" cy="343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>
                <a:solidFill>
                  <a:srgbClr val="0284C7"/>
                </a:solidFill>
                <a:latin typeface="Poppins Medium"/>
              </a:rPr>
              <a:t>Planify.</a:t>
            </a:r>
            <a:endParaRPr lang="en-US" dirty="0" err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446</cp:revision>
  <dcterms:created xsi:type="dcterms:W3CDTF">2013-01-27T09:14:16Z</dcterms:created>
  <dcterms:modified xsi:type="dcterms:W3CDTF">2026-08-25T14:49:32Z</dcterms:modified>
  <cp:category/>
</cp:coreProperties>
</file>